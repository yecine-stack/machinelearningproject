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9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42302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Analyse Comportementale Clientèle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0461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 err="1">
                <a:solidFill>
                  <a:srgbClr val="48CAE4"/>
                </a:solidFill>
              </a:rPr>
              <a:t>Chaîne</a:t>
            </a:r>
            <a:r>
              <a:rPr sz="2800" b="0" i="0" dirty="0">
                <a:solidFill>
                  <a:srgbClr val="48CAE4"/>
                </a:solidFill>
              </a:rPr>
              <a:t> </a:t>
            </a:r>
            <a:r>
              <a:rPr sz="2800" b="0" i="0" dirty="0" err="1">
                <a:solidFill>
                  <a:srgbClr val="48CAE4"/>
                </a:solidFill>
              </a:rPr>
              <a:t>complète</a:t>
            </a:r>
            <a:r>
              <a:rPr sz="2800" b="0" i="0" dirty="0">
                <a:solidFill>
                  <a:srgbClr val="48CAE4"/>
                </a:solidFill>
              </a:rPr>
              <a:t> de </a:t>
            </a:r>
            <a:r>
              <a:rPr sz="2800" b="0" i="0" dirty="0" err="1">
                <a:solidFill>
                  <a:srgbClr val="48CAE4"/>
                </a:solidFill>
              </a:rPr>
              <a:t>traitement</a:t>
            </a:r>
            <a:endParaRPr sz="2800" b="0" i="0" dirty="0">
              <a:solidFill>
                <a:srgbClr val="48CAE4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2520" y="3611881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10705" y="4137660"/>
            <a:ext cx="41148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560665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F0F4F8"/>
                </a:solidFill>
              </a:rPr>
              <a:t>Étudiant</a:t>
            </a:r>
            <a:r>
              <a:rPr sz="2000" b="0" i="0" dirty="0">
                <a:solidFill>
                  <a:srgbClr val="F0F4F8"/>
                </a:solidFill>
              </a:rPr>
              <a:t> : </a:t>
            </a:r>
            <a:r>
              <a:rPr lang="fr-FR" sz="2000" dirty="0">
                <a:solidFill>
                  <a:srgbClr val="F0F4F8"/>
                </a:solidFill>
              </a:rPr>
              <a:t>Mohammed </a:t>
            </a:r>
            <a:r>
              <a:rPr lang="fr-FR" sz="2000" dirty="0" err="1">
                <a:solidFill>
                  <a:srgbClr val="F0F4F8"/>
                </a:solidFill>
              </a:rPr>
              <a:t>Yessine</a:t>
            </a:r>
            <a:r>
              <a:rPr lang="fr-FR" sz="2000" dirty="0">
                <a:solidFill>
                  <a:srgbClr val="F0F4F8"/>
                </a:solidFill>
              </a:rPr>
              <a:t> </a:t>
            </a:r>
            <a:r>
              <a:rPr lang="fr-FR" sz="2000" dirty="0" err="1">
                <a:solidFill>
                  <a:srgbClr val="F0F4F8"/>
                </a:solidFill>
              </a:rPr>
              <a:t>Samet</a:t>
            </a:r>
            <a:endParaRPr sz="2000" b="0" i="0" dirty="0">
              <a:solidFill>
                <a:srgbClr val="F0F4F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8EB8D4"/>
                </a:solidFill>
              </a:rPr>
              <a:t>Analyse</a:t>
            </a:r>
            <a:r>
              <a:rPr sz="900" b="0" i="0" dirty="0">
                <a:solidFill>
                  <a:srgbClr val="8EB8D4"/>
                </a:solidFill>
              </a:rPr>
              <a:t> </a:t>
            </a:r>
            <a:r>
              <a:rPr sz="900" b="0" i="0" dirty="0" err="1">
                <a:solidFill>
                  <a:srgbClr val="8EB8D4"/>
                </a:solidFill>
              </a:rPr>
              <a:t>Comportementale</a:t>
            </a:r>
            <a:r>
              <a:rPr sz="900" b="0" i="0" dirty="0">
                <a:solidFill>
                  <a:srgbClr val="8EB8D4"/>
                </a:solidFill>
              </a:rPr>
              <a:t> </a:t>
            </a:r>
            <a:r>
              <a:rPr sz="900" b="0" i="0" dirty="0" err="1">
                <a:solidFill>
                  <a:srgbClr val="8EB8D4"/>
                </a:solidFill>
              </a:rPr>
              <a:t>Clientèle</a:t>
            </a:r>
            <a:r>
              <a:rPr sz="900" b="0" i="0" dirty="0">
                <a:solidFill>
                  <a:srgbClr val="8EB8D4"/>
                </a:solidFill>
              </a:rPr>
              <a:t>  •  225–2026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 err="1">
                <a:solidFill>
                  <a:srgbClr val="8EB8D4"/>
                </a:solidFill>
              </a:rPr>
              <a:t>Problématique</a:t>
            </a:r>
            <a:r>
              <a:rPr sz="1400" b="0" i="1" dirty="0">
                <a:solidFill>
                  <a:srgbClr val="8EB8D4"/>
                </a:solidFill>
              </a:rPr>
              <a:t> : comment exploiter les </a:t>
            </a:r>
            <a:r>
              <a:rPr sz="1400" b="0" i="1" dirty="0" err="1">
                <a:solidFill>
                  <a:srgbClr val="8EB8D4"/>
                </a:solidFill>
              </a:rPr>
              <a:t>données</a:t>
            </a:r>
            <a:r>
              <a:rPr sz="1400" b="0" i="1" dirty="0">
                <a:solidFill>
                  <a:srgbClr val="8EB8D4"/>
                </a:solidFill>
              </a:rPr>
              <a:t> clients pour maximiser la </a:t>
            </a:r>
            <a:r>
              <a:rPr sz="1400" b="0" i="1" dirty="0" err="1">
                <a:solidFill>
                  <a:srgbClr val="8EB8D4"/>
                </a:solidFill>
              </a:rPr>
              <a:t>valeur</a:t>
            </a:r>
            <a:r>
              <a:rPr sz="1400" b="0" i="1" dirty="0">
                <a:solidFill>
                  <a:srgbClr val="8EB8D4"/>
                </a:solidFill>
              </a:rPr>
              <a:t> et </a:t>
            </a:r>
            <a:r>
              <a:rPr sz="1400" b="0" i="1" dirty="0" err="1">
                <a:solidFill>
                  <a:srgbClr val="8EB8D4"/>
                </a:solidFill>
              </a:rPr>
              <a:t>réduire</a:t>
            </a:r>
            <a:r>
              <a:rPr sz="1400" b="0" i="1" dirty="0">
                <a:solidFill>
                  <a:srgbClr val="8EB8D4"/>
                </a:solidFill>
              </a:rPr>
              <a:t> l</a:t>
            </a:r>
            <a:r>
              <a:rPr lang="fr-FR" sz="1400" b="0" i="1" dirty="0">
                <a:solidFill>
                  <a:srgbClr val="8EB8D4"/>
                </a:solidFill>
              </a:rPr>
              <a:t>e </a:t>
            </a:r>
            <a:r>
              <a:rPr lang="fr-FR" sz="1400" b="0" i="1" dirty="0" err="1">
                <a:solidFill>
                  <a:srgbClr val="8EB8D4"/>
                </a:solidFill>
              </a:rPr>
              <a:t>churn</a:t>
            </a:r>
            <a:r>
              <a:rPr sz="1400" b="0" i="1" dirty="0">
                <a:solidFill>
                  <a:srgbClr val="8EB8D4"/>
                </a:solidFill>
              </a:rPr>
              <a:t> 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566160" cy="24688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5661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8562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🎯  Segmentation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33172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Regrouper les clients en segments homogènes via KMeans pour personnaliser les offres marketing.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828800"/>
            <a:ext cx="3566160" cy="24688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828800"/>
            <a:ext cx="3566160" cy="4114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18562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📉  Prédiction du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331720"/>
            <a:ext cx="3337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0F4F8"/>
                </a:solidFill>
              </a:rPr>
              <a:t>Identifier </a:t>
            </a:r>
            <a:r>
              <a:rPr sz="1200" b="0" i="0" dirty="0" err="1">
                <a:solidFill>
                  <a:srgbClr val="F0F4F8"/>
                </a:solidFill>
              </a:rPr>
              <a:t>proactivement</a:t>
            </a:r>
            <a:r>
              <a:rPr sz="1200" b="0" i="0" dirty="0">
                <a:solidFill>
                  <a:srgbClr val="F0F4F8"/>
                </a:solidFill>
              </a:rPr>
              <a:t> les clients à </a:t>
            </a:r>
            <a:r>
              <a:rPr sz="1200" b="0" i="0" dirty="0" err="1">
                <a:solidFill>
                  <a:srgbClr val="F0F4F8"/>
                </a:solidFill>
              </a:rPr>
              <a:t>risque</a:t>
            </a:r>
            <a:r>
              <a:rPr sz="1200" b="0" i="0" dirty="0">
                <a:solidFill>
                  <a:srgbClr val="F0F4F8"/>
                </a:solidFill>
              </a:rPr>
              <a:t> de </a:t>
            </a:r>
            <a:r>
              <a:rPr sz="1200" b="0" i="0" dirty="0" err="1">
                <a:solidFill>
                  <a:srgbClr val="F0F4F8"/>
                </a:solidFill>
              </a:rPr>
              <a:t>désabonnement</a:t>
            </a:r>
            <a:r>
              <a:rPr sz="1200" b="0" i="0" dirty="0">
                <a:solidFill>
                  <a:srgbClr val="F0F4F8"/>
                </a:solidFill>
              </a:rPr>
              <a:t> grâce à </a:t>
            </a:r>
            <a:r>
              <a:rPr sz="1200" b="0" i="0" dirty="0" err="1">
                <a:solidFill>
                  <a:srgbClr val="F0F4F8"/>
                </a:solidFill>
              </a:rPr>
              <a:t>XGBoost</a:t>
            </a:r>
            <a:r>
              <a:rPr sz="1200" b="0" i="0" dirty="0">
                <a:solidFill>
                  <a:srgbClr val="F0F4F8"/>
                </a:solidFill>
              </a:rPr>
              <a:t> (ROC-AUC ~0.9</a:t>
            </a:r>
            <a:r>
              <a:rPr lang="fr-FR" sz="1200" b="0" i="0" dirty="0">
                <a:solidFill>
                  <a:srgbClr val="F0F4F8"/>
                </a:solidFill>
              </a:rPr>
              <a:t>4</a:t>
            </a:r>
            <a:r>
              <a:rPr sz="1200" b="0" i="0" dirty="0">
                <a:solidFill>
                  <a:srgbClr val="F0F4F8"/>
                </a:solidFill>
              </a:rPr>
              <a:t>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566160" cy="24688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356616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🌐  Déploiement Web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3172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Mettre à disposition un formulaire de prédiction en temps réel via une application Flask (REST API).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Impact attendu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8348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0F4F8"/>
                </a:solidFill>
              </a:rPr>
              <a:t>↑  </a:t>
            </a:r>
            <a:r>
              <a:rPr sz="1200" b="0" dirty="0" err="1">
                <a:solidFill>
                  <a:srgbClr val="F0F4F8"/>
                </a:solidFill>
              </a:rPr>
              <a:t>Taux</a:t>
            </a:r>
            <a:r>
              <a:rPr sz="1200" b="0" dirty="0">
                <a:solidFill>
                  <a:srgbClr val="F0F4F8"/>
                </a:solidFill>
              </a:rPr>
              <a:t> de </a:t>
            </a:r>
            <a:r>
              <a:rPr sz="1200" b="0" dirty="0" err="1">
                <a:solidFill>
                  <a:srgbClr val="F0F4F8"/>
                </a:solidFill>
              </a:rPr>
              <a:t>rétention</a:t>
            </a:r>
            <a:r>
              <a:rPr sz="1200" b="0" dirty="0">
                <a:solidFill>
                  <a:srgbClr val="F0F4F8"/>
                </a:solidFill>
              </a:rPr>
              <a:t> client grâce aux </a:t>
            </a:r>
            <a:r>
              <a:rPr sz="1200" b="0" dirty="0" err="1">
                <a:solidFill>
                  <a:srgbClr val="F0F4F8"/>
                </a:solidFill>
              </a:rPr>
              <a:t>alertes</a:t>
            </a:r>
            <a:r>
              <a:rPr sz="1200" b="0" dirty="0">
                <a:solidFill>
                  <a:srgbClr val="F0F4F8"/>
                </a:solidFill>
              </a:rPr>
              <a:t> churn </a:t>
            </a:r>
            <a:r>
              <a:rPr sz="1200" b="0" dirty="0" err="1">
                <a:solidFill>
                  <a:srgbClr val="F0F4F8"/>
                </a:solidFill>
              </a:rPr>
              <a:t>précoces</a:t>
            </a:r>
            <a:endParaRPr sz="1200" b="0" dirty="0">
              <a:solidFill>
                <a:srgbClr val="F0F4F8"/>
              </a:solidFill>
            </a:endParaRPr>
          </a:p>
          <a:p>
            <a:pPr algn="l"/>
            <a:r>
              <a:rPr sz="1200" b="0" dirty="0">
                <a:solidFill>
                  <a:srgbClr val="F0F4F8"/>
                </a:solidFill>
              </a:rPr>
              <a:t>↑  </a:t>
            </a:r>
            <a:r>
              <a:rPr sz="1200" b="0" dirty="0" err="1">
                <a:solidFill>
                  <a:srgbClr val="F0F4F8"/>
                </a:solidFill>
              </a:rPr>
              <a:t>Revenus</a:t>
            </a:r>
            <a:r>
              <a:rPr sz="1200" b="0" dirty="0">
                <a:solidFill>
                  <a:srgbClr val="F0F4F8"/>
                </a:solidFill>
              </a:rPr>
              <a:t> via </a:t>
            </a:r>
            <a:r>
              <a:rPr sz="1200" b="0" dirty="0" err="1">
                <a:solidFill>
                  <a:srgbClr val="F0F4F8"/>
                </a:solidFill>
              </a:rPr>
              <a:t>recommandations</a:t>
            </a:r>
            <a:r>
              <a:rPr sz="1200" b="0" dirty="0">
                <a:solidFill>
                  <a:srgbClr val="F0F4F8"/>
                </a:solidFill>
              </a:rPr>
              <a:t> </a:t>
            </a:r>
            <a:r>
              <a:rPr sz="1200" b="0" dirty="0" err="1">
                <a:solidFill>
                  <a:srgbClr val="F0F4F8"/>
                </a:solidFill>
              </a:rPr>
              <a:t>personnalisées</a:t>
            </a:r>
            <a:r>
              <a:rPr sz="1200" b="0" dirty="0">
                <a:solidFill>
                  <a:srgbClr val="F0F4F8"/>
                </a:solidFill>
              </a:rPr>
              <a:t> par segment</a:t>
            </a:r>
          </a:p>
          <a:p>
            <a:pPr algn="l"/>
            <a:r>
              <a:rPr sz="1200" b="0" dirty="0">
                <a:solidFill>
                  <a:srgbClr val="F0F4F8"/>
                </a:solidFill>
              </a:rPr>
              <a:t>↓  </a:t>
            </a:r>
            <a:r>
              <a:rPr sz="1200" b="0" dirty="0" err="1">
                <a:solidFill>
                  <a:srgbClr val="F0F4F8"/>
                </a:solidFill>
              </a:rPr>
              <a:t>Coûts</a:t>
            </a:r>
            <a:r>
              <a:rPr sz="1200" b="0" dirty="0">
                <a:solidFill>
                  <a:srgbClr val="F0F4F8"/>
                </a:solidFill>
              </a:rPr>
              <a:t> </a:t>
            </a:r>
            <a:r>
              <a:rPr sz="1200" b="0" dirty="0" err="1">
                <a:solidFill>
                  <a:srgbClr val="F0F4F8"/>
                </a:solidFill>
              </a:rPr>
              <a:t>d'acquisition</a:t>
            </a:r>
            <a:r>
              <a:rPr sz="1200" b="0" dirty="0">
                <a:solidFill>
                  <a:srgbClr val="F0F4F8"/>
                </a:solidFill>
              </a:rPr>
              <a:t> : </a:t>
            </a:r>
            <a:r>
              <a:rPr sz="1200" b="0" dirty="0" err="1">
                <a:solidFill>
                  <a:srgbClr val="F0F4F8"/>
                </a:solidFill>
              </a:rPr>
              <a:t>ciblage</a:t>
            </a:r>
            <a:r>
              <a:rPr sz="1200" b="0" dirty="0">
                <a:solidFill>
                  <a:srgbClr val="F0F4F8"/>
                </a:solidFill>
              </a:rPr>
              <a:t> marketing plus précis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Structure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64008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data/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9164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0F4F8"/>
                </a:solidFill>
              </a:rPr>
              <a:t>raw/ </a:t>
            </a:r>
            <a:r>
              <a:rPr lang="fr-FR" sz="1100" dirty="0">
                <a:solidFill>
                  <a:srgbClr val="F0F4F8"/>
                </a:solidFill>
              </a:rPr>
              <a:t>     </a:t>
            </a:r>
            <a:r>
              <a:rPr sz="1100" b="0" i="0" dirty="0">
                <a:solidFill>
                  <a:srgbClr val="F0F4F8"/>
                </a:solidFill>
              </a:rPr>
              <a:t>processed/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394960" cy="13258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64008" cy="13258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CAE4"/>
                </a:solidFill>
              </a:rPr>
              <a:t>src/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69164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0F4F8"/>
                </a:solidFill>
              </a:rPr>
              <a:t>preprocessing.py </a:t>
            </a:r>
            <a:r>
              <a:rPr lang="fr-FR" sz="1100" dirty="0">
                <a:solidFill>
                  <a:srgbClr val="F0F4F8"/>
                </a:solidFill>
              </a:rPr>
              <a:t>   </a:t>
            </a:r>
            <a:r>
              <a:rPr sz="1100" b="0" i="0" dirty="0">
                <a:solidFill>
                  <a:srgbClr val="F0F4F8"/>
                </a:solidFill>
              </a:rPr>
              <a:t>train.py</a:t>
            </a:r>
            <a:r>
              <a:rPr lang="fr-FR" sz="1100" dirty="0">
                <a:solidFill>
                  <a:srgbClr val="F0F4F8"/>
                </a:solidFill>
              </a:rPr>
              <a:t>   </a:t>
            </a:r>
            <a:r>
              <a:rPr lang="fr-FR" sz="1100" dirty="0" err="1">
                <a:solidFill>
                  <a:srgbClr val="F0F4F8"/>
                </a:solidFill>
              </a:rPr>
              <a:t>utils,py</a:t>
            </a:r>
            <a:r>
              <a:rPr lang="fr-FR" sz="1100" dirty="0">
                <a:solidFill>
                  <a:srgbClr val="F0F4F8"/>
                </a:solidFill>
              </a:rPr>
              <a:t>   </a:t>
            </a:r>
            <a:r>
              <a:rPr lang="fr-FR" sz="1100" dirty="0" err="1">
                <a:solidFill>
                  <a:srgbClr val="F0F4F8"/>
                </a:solidFill>
              </a:rPr>
              <a:t>predict,py</a:t>
            </a:r>
            <a:endParaRPr sz="1100" b="0" i="0" dirty="0">
              <a:solidFill>
                <a:srgbClr val="F0F4F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64008" cy="13258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724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models/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15468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F0F4F8"/>
                </a:solidFill>
              </a:rPr>
              <a:t>xgb_model.pkl</a:t>
            </a:r>
            <a:r>
              <a:rPr sz="1100" b="0" i="0" dirty="0">
                <a:solidFill>
                  <a:srgbClr val="F0F4F8"/>
                </a:solidFill>
              </a:rPr>
              <a:t> · </a:t>
            </a:r>
            <a:r>
              <a:rPr sz="1100" b="0" i="0" dirty="0" err="1">
                <a:solidFill>
                  <a:srgbClr val="F0F4F8"/>
                </a:solidFill>
              </a:rPr>
              <a:t>kmeans_model.pkl</a:t>
            </a:r>
            <a:r>
              <a:rPr sz="1100" b="0" i="0" dirty="0">
                <a:solidFill>
                  <a:srgbClr val="F0F4F8"/>
                </a:solidFill>
              </a:rPr>
              <a:t> </a:t>
            </a:r>
            <a:r>
              <a:rPr lang="fr-FR" sz="1100" dirty="0">
                <a:solidFill>
                  <a:srgbClr val="F0F4F8"/>
                </a:solidFill>
              </a:rPr>
              <a:t>   </a:t>
            </a:r>
            <a:r>
              <a:rPr sz="1100" b="0" i="0" dirty="0">
                <a:solidFill>
                  <a:srgbClr val="F0F4F8"/>
                </a:solidFill>
              </a:rPr>
              <a:t> </a:t>
            </a:r>
            <a:r>
              <a:rPr sz="1100" b="0" i="0" dirty="0" err="1">
                <a:solidFill>
                  <a:srgbClr val="F0F4F8"/>
                </a:solidFill>
              </a:rPr>
              <a:t>encoder.pkl</a:t>
            </a:r>
            <a:endParaRPr sz="1100" b="0" i="0" dirty="0">
              <a:solidFill>
                <a:srgbClr val="F0F4F8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2651760"/>
            <a:ext cx="5394960" cy="13258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2651760"/>
            <a:ext cx="64008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2724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app/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1546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app.py · templates/ · static/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64008" cy="1325880"/>
          </a:xfrm>
          <a:prstGeom prst="rect">
            <a:avLst/>
          </a:prstGeom>
          <a:solidFill>
            <a:srgbClr val="A29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1879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29BFA"/>
                </a:solidFill>
              </a:rPr>
              <a:t>reports/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61772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100" b="0" i="0" dirty="0">
                <a:solidFill>
                  <a:srgbClr val="F0F4F8"/>
                </a:solidFill>
              </a:rPr>
              <a:t>Contient les figures</a:t>
            </a:r>
            <a:endParaRPr sz="1100" b="0" i="0" dirty="0">
              <a:solidFill>
                <a:srgbClr val="F0F4F8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" y="5669280"/>
            <a:ext cx="114300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Description du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383280" cy="14173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3832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52+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EB8D4"/>
                </a:solidFill>
              </a:rPr>
              <a:t>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3383280" cy="14173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38328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325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300"/>
                </a:solidFill>
              </a:rPr>
              <a:t>~10 000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03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EB8D4"/>
                </a:solidFill>
              </a:rPr>
              <a:t>Observations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143000"/>
            <a:ext cx="3383280" cy="14173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143000"/>
            <a:ext cx="3383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1325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CC7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1031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EB8D4"/>
                </a:solidFill>
              </a:rPr>
              <a:t>Variable cible :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Types de variables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5303520" cy="23317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64008" cy="2331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Variables numériques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CustomerID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Age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Recency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Frequency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MonetaryTotal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AvgDaysBetweenPurchases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CustomerTenureDays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00400"/>
            <a:ext cx="5303520" cy="23317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3200400"/>
            <a:ext cx="64008" cy="23317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Variables catégorielles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65760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Gender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PreferredPaymentMode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PreferredLoginDevice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PreferedOrderCat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MaritalStatus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CouponUsed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C300"/>
                </a:solidFill>
              </a:rPr>
              <a:t>Cible : Churn  →  Variable binaire  (0 = Fidèle | 1 = Churné)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Exploration des Données (EDA)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0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64008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Valeurs manquantes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4592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Age : ~30% de NaN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AvgDaysBetweenPurchases : ~25% de NaN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Autres colonnes : &lt;5%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486400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64008" cy="1920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Valeurs aberrantes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2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Recency &lt; 0  (logiquement impossible)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WarehouseToHome &gt; 150 km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HourSpendOnApp &gt; 24h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5486400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64008" cy="19202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Formats incohérents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7947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RegistrationDate : chaîne texte → datetime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IP : format mixte (v4/v6, privé/public)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486400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64008" cy="1920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Déséquilibre de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7947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Churn = 0 (Fidèles) : ~83%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Churn = 1 (Churnés) : ~17%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→ Nécessite ré-équilibrage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623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EB8D4"/>
                </a:solidFill>
              </a:rPr>
              <a:t>Ces observations guident directement les choix de prétraitement.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Prétraitement des Données  [preprocessing.py]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0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64008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1  Séparation Train/Test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4592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train_test_split( stratify=Churn )  →  80% train · 20% test
La stratification conserve le ratio de churn dans chaque sous-ensemble.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486400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64008" cy="19202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2  Suppression de colonnes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2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Suppression de la colonne Newsletter (non pertinente)
et CustomerID (identifiant non prédictif).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5486400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64008" cy="19202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3  Imputation des valeurs manquantes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7947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Age  →  médiane par groupe démographique
AvgDaysBetweenPurchases  →  médiane globale
Ensemble cohérent, sans fuite de données.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486400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64008" cy="1920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4  Nettoyage des anomalies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794760"/>
            <a:ext cx="52120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0F4F8"/>
                </a:solidFill>
              </a:rPr>
              <a:t>Recency &lt; 0  →  </a:t>
            </a:r>
            <a:r>
              <a:rPr sz="1100" b="0" i="0" dirty="0" err="1">
                <a:solidFill>
                  <a:srgbClr val="F0F4F8"/>
                </a:solidFill>
              </a:rPr>
              <a:t>remplacé</a:t>
            </a:r>
            <a:r>
              <a:rPr sz="1100" b="0" i="0" dirty="0">
                <a:solidFill>
                  <a:srgbClr val="F0F4F8"/>
                </a:solidFill>
              </a:rPr>
              <a:t> par 0
</a:t>
            </a:r>
            <a:r>
              <a:rPr sz="1100" b="0" i="0" dirty="0" err="1">
                <a:solidFill>
                  <a:srgbClr val="F0F4F8"/>
                </a:solidFill>
              </a:rPr>
              <a:t>WarehouseToHome</a:t>
            </a:r>
            <a:r>
              <a:rPr sz="1100" b="0" i="0" dirty="0">
                <a:solidFill>
                  <a:srgbClr val="F0F4F8"/>
                </a:solidFill>
              </a:rPr>
              <a:t> &gt; 150  →  </a:t>
            </a:r>
            <a:r>
              <a:rPr lang="fr-FR" sz="1100" dirty="0" err="1">
                <a:solidFill>
                  <a:srgbClr val="F0F4F8"/>
                </a:solidFill>
              </a:rPr>
              <a:t>reimputés</a:t>
            </a:r>
            <a:r>
              <a:rPr lang="fr-FR" sz="1100" dirty="0">
                <a:solidFill>
                  <a:srgbClr val="F0F4F8"/>
                </a:solidFill>
              </a:rPr>
              <a:t> en utilisant la </a:t>
            </a:r>
            <a:r>
              <a:rPr lang="fr-FR" sz="1100" dirty="0" err="1">
                <a:solidFill>
                  <a:srgbClr val="F0F4F8"/>
                </a:solidFill>
              </a:rPr>
              <a:t>mediane</a:t>
            </a:r>
            <a:r>
              <a:rPr sz="1100" b="0" i="0" dirty="0">
                <a:solidFill>
                  <a:srgbClr val="F0F4F8"/>
                </a:solidFill>
              </a:rPr>
              <a:t>
</a:t>
            </a:r>
            <a:r>
              <a:rPr sz="1100" b="0" i="0" dirty="0" err="1">
                <a:solidFill>
                  <a:srgbClr val="F0F4F8"/>
                </a:solidFill>
              </a:rPr>
              <a:t>HourSpendOnApp</a:t>
            </a:r>
            <a:r>
              <a:rPr sz="1100" b="0" i="0" dirty="0">
                <a:solidFill>
                  <a:srgbClr val="F0F4F8"/>
                </a:solidFill>
              </a:rPr>
              <a:t> &gt; 24  → </a:t>
            </a:r>
            <a:r>
              <a:rPr lang="fr-FR" sz="1100" dirty="0" err="1">
                <a:solidFill>
                  <a:srgbClr val="F0F4F8"/>
                </a:solidFill>
              </a:rPr>
              <a:t>reimputés</a:t>
            </a:r>
            <a:r>
              <a:rPr lang="fr-FR" sz="1100" dirty="0">
                <a:solidFill>
                  <a:srgbClr val="F0F4F8"/>
                </a:solidFill>
              </a:rPr>
              <a:t> en utilisant la </a:t>
            </a:r>
            <a:r>
              <a:rPr lang="fr-FR" sz="1100" dirty="0" err="1">
                <a:solidFill>
                  <a:srgbClr val="F0F4F8"/>
                </a:solidFill>
              </a:rPr>
              <a:t>mediane</a:t>
            </a:r>
            <a:endParaRPr sz="1100" b="0" i="0" dirty="0">
              <a:solidFill>
                <a:srgbClr val="F0F4F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Encodage &amp;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22860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64008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Encodage des variables catégorielles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E4"/>
                </a:solidFill>
              </a:rPr>
              <a:t>Ordinal Encoding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SatisfactionScore, OrderCount  →  ordre naturel préservé</a:t>
            </a:r>
          </a:p>
          <a:p>
            <a:pPr algn="l"/>
            <a:r>
              <a:rPr sz="1100" b="1">
                <a:solidFill>
                  <a:srgbClr val="48CAE4"/>
                </a:solidFill>
              </a:rPr>
              <a:t>One-Hot Encoding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Gender, MaritalStatus, PreferredPaymentMode, etc.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5760720" cy="22860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64008" cy="2286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Nouvelles Features créées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002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CAE4"/>
                </a:solidFill>
              </a:rPr>
              <a:t>MonetaryPerDay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= MonetaryTotal / (Recency + 1)  →  revenu journalisé</a:t>
            </a:r>
          </a:p>
          <a:p>
            <a:pPr algn="l"/>
            <a:r>
              <a:rPr sz="1100" b="1">
                <a:solidFill>
                  <a:srgbClr val="48CAE4"/>
                </a:solidFill>
              </a:rPr>
              <a:t>AvgBasketValue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= MonetaryTotal / Frequency  →  panier moyen</a:t>
            </a:r>
          </a:p>
          <a:p>
            <a:pPr algn="l"/>
            <a:r>
              <a:rPr sz="1100" b="1">
                <a:solidFill>
                  <a:srgbClr val="48CAE4"/>
                </a:solidFill>
              </a:rPr>
              <a:t>TenureRatio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= Recency / CustomerTenureDays  →  activité récente vs ancienneté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5303520" cy="13716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64008" cy="13716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393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Parsing des 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416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RegistrationDate → year, month, day_of_week
Permet de capturer la saisonnalité de l'inscription.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566160"/>
            <a:ext cx="5760720" cy="13716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3566160"/>
            <a:ext cx="64008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639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Analyse des adresses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4164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Détection IP privées vs publiques
Extraction du pays de connexion via géolocalisation
→ Indicateur de localisation et comportement.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166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EB8D4"/>
                </a:solidFill>
              </a:rPr>
              <a:t>Feature engineering : transformer la donnée brute en signal prédictif exploitable.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Corrélation, Normalisation &amp; Réduction de Dimensionnalité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566160" cy="34747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5661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2070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Heatmap de Corrélation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Visualisation de la matrice de corrélation de Pearson.
Suppression des variables avec |ρ| &gt; 0.85
pour éliminer la multicolinéarité.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3383280"/>
            <a:ext cx="3337560" cy="502920"/>
          </a:xfrm>
          <a:prstGeom prst="rect">
            <a:avLst/>
          </a:prstGeom>
          <a:solidFill>
            <a:srgbClr val="08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4015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[ Heatmap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097280"/>
            <a:ext cx="3566160" cy="34747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097280"/>
            <a:ext cx="356616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12070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StandardScaler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Centrage-réduction de toutes les features numériques :
  μ = 0,  σ = 1
Essentiel pour PCA et régularisation XGBoost.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3383280"/>
            <a:ext cx="3337560" cy="502920"/>
          </a:xfrm>
          <a:prstGeom prst="rect">
            <a:avLst/>
          </a:prstGeom>
          <a:solidFill>
            <a:srgbClr val="08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1688" y="34015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x̃ = (x − μ) / 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097280"/>
            <a:ext cx="3566160" cy="347472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097280"/>
            <a:ext cx="356616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12070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PCA — Analyse en Composantes Principales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7373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Réduction dimensionnelle en conservant
95% de la variance expliquée.
Accélère l'entraînement, réduit le bruit.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3383280"/>
            <a:ext cx="3337560" cy="502920"/>
          </a:xfrm>
          <a:prstGeom prst="rect">
            <a:avLst/>
          </a:prstGeom>
          <a:solidFill>
            <a:srgbClr val="08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34015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8CAE4"/>
                </a:solidFill>
              </a:rPr>
              <a:t>n_components = 0.95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00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EB8D4"/>
                </a:solidFill>
              </a:rPr>
              <a:t>Ordre d'application : Corrélation → StandardScaler → PCA  (toujours fit sur train, transform sur test)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</a:rPr>
              <a:t>Variance préservée 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422392"/>
            <a:ext cx="8503920" cy="320040"/>
          </a:xfrm>
          <a:prstGeom prst="rect">
            <a:avLst/>
          </a:prstGeom>
          <a:solidFill>
            <a:srgbClr val="08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26080" y="5422392"/>
            <a:ext cx="80924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5422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95%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54223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B8D4"/>
                </a:solidFill>
              </a:rPr>
              <a:t>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Rééquilibrage des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EB8D4"/>
                </a:solidFill>
              </a:rPr>
              <a:t>Problème : Le déséquilibre de classes biaise le modèle vers la classe majoritaire.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394960" cy="41148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39496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Avant rééquilibrage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823874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55394" y="2286000"/>
            <a:ext cx="4022445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82387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Churn  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5394" y="2999232"/>
            <a:ext cx="402244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Fidèles  83%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5643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F0F4F8"/>
                </a:solidFill>
              </a:rPr>
              <a:t>Classe</a:t>
            </a:r>
            <a:r>
              <a:rPr sz="1200" b="0" dirty="0">
                <a:solidFill>
                  <a:srgbClr val="F0F4F8"/>
                </a:solidFill>
              </a:rPr>
              <a:t> 0 (</a:t>
            </a:r>
            <a:r>
              <a:rPr sz="1200" b="0" dirty="0" err="1">
                <a:solidFill>
                  <a:srgbClr val="F0F4F8"/>
                </a:solidFill>
              </a:rPr>
              <a:t>Fidèles</a:t>
            </a:r>
            <a:r>
              <a:rPr sz="1200" b="0" dirty="0">
                <a:solidFill>
                  <a:srgbClr val="F0F4F8"/>
                </a:solidFill>
              </a:rPr>
              <a:t>) : 83%</a:t>
            </a:r>
          </a:p>
          <a:p>
            <a:pPr algn="l"/>
            <a:r>
              <a:rPr sz="1200" b="0" dirty="0" err="1">
                <a:solidFill>
                  <a:srgbClr val="F0F4F8"/>
                </a:solidFill>
              </a:rPr>
              <a:t>Classe</a:t>
            </a:r>
            <a:r>
              <a:rPr sz="1200" b="0" dirty="0">
                <a:solidFill>
                  <a:srgbClr val="F0F4F8"/>
                </a:solidFill>
              </a:rPr>
              <a:t> 1 (</a:t>
            </a:r>
            <a:r>
              <a:rPr sz="1200" b="0" dirty="0" err="1">
                <a:solidFill>
                  <a:srgbClr val="F0F4F8"/>
                </a:solidFill>
              </a:rPr>
              <a:t>Churnés</a:t>
            </a:r>
            <a:r>
              <a:rPr sz="1200" b="0" dirty="0">
                <a:solidFill>
                  <a:srgbClr val="F0F4F8"/>
                </a:solidFill>
              </a:rPr>
              <a:t>) : 17%</a:t>
            </a:r>
          </a:p>
          <a:p>
            <a:pPr algn="l"/>
            <a:r>
              <a:rPr sz="1200" b="1" dirty="0">
                <a:solidFill>
                  <a:srgbClr val="E74C3C"/>
                </a:solidFill>
              </a:rPr>
              <a:t>→ </a:t>
            </a:r>
            <a:r>
              <a:rPr sz="1200" b="1" dirty="0" err="1">
                <a:solidFill>
                  <a:srgbClr val="E74C3C"/>
                </a:solidFill>
              </a:rPr>
              <a:t>Modèle</a:t>
            </a:r>
            <a:r>
              <a:rPr sz="1200" b="1" dirty="0">
                <a:solidFill>
                  <a:srgbClr val="E74C3C"/>
                </a:solidFill>
              </a:rPr>
              <a:t> </a:t>
            </a:r>
            <a:r>
              <a:rPr sz="1200" b="1" dirty="0" err="1">
                <a:solidFill>
                  <a:srgbClr val="E74C3C"/>
                </a:solidFill>
              </a:rPr>
              <a:t>biaisé</a:t>
            </a:r>
            <a:r>
              <a:rPr sz="1200" b="1" dirty="0">
                <a:solidFill>
                  <a:srgbClr val="E74C3C"/>
                </a:solidFill>
              </a:rPr>
              <a:t> </a:t>
            </a:r>
            <a:r>
              <a:rPr sz="1200" b="1" dirty="0" err="1">
                <a:solidFill>
                  <a:srgbClr val="E74C3C"/>
                </a:solidFill>
              </a:rPr>
              <a:t>vers</a:t>
            </a:r>
            <a:r>
              <a:rPr sz="1200" b="1" dirty="0">
                <a:solidFill>
                  <a:srgbClr val="E74C3C"/>
                </a:solidFill>
              </a:rPr>
              <a:t>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394960" cy="41148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39496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755648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Après rééquilibrage (Upsampling)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286000"/>
            <a:ext cx="242316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15400" y="2286000"/>
            <a:ext cx="242316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9992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Churn  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9992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Fidèles  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46421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Classe 0 (Fidèles) : 50%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Classe 1 (Churnés) : 50%</a:t>
            </a:r>
          </a:p>
          <a:p>
            <a:pPr algn="l"/>
            <a:r>
              <a:rPr sz="1200" b="1">
                <a:solidFill>
                  <a:srgbClr val="2ECC71"/>
                </a:solidFill>
              </a:rPr>
              <a:t>→ Apprentissage équilibré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11155680" cy="8229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0474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0F4F8"/>
                </a:solidFill>
              </a:rPr>
              <a:t>Technique : resample() — sur-</a:t>
            </a:r>
            <a:r>
              <a:rPr sz="1200" b="0" i="0" dirty="0" err="1">
                <a:solidFill>
                  <a:srgbClr val="F0F4F8"/>
                </a:solidFill>
              </a:rPr>
              <a:t>échantillonnage</a:t>
            </a:r>
            <a:r>
              <a:rPr sz="1200" b="0" i="0" dirty="0">
                <a:solidFill>
                  <a:srgbClr val="F0F4F8"/>
                </a:solidFill>
              </a:rPr>
              <a:t> </a:t>
            </a:r>
            <a:r>
              <a:rPr sz="1200" b="0" i="0" dirty="0" err="1">
                <a:solidFill>
                  <a:srgbClr val="F0F4F8"/>
                </a:solidFill>
              </a:rPr>
              <a:t>aléatoire</a:t>
            </a:r>
            <a:r>
              <a:rPr sz="1200" b="0" i="0" dirty="0">
                <a:solidFill>
                  <a:srgbClr val="F0F4F8"/>
                </a:solidFill>
              </a:rPr>
              <a:t> de la </a:t>
            </a:r>
            <a:r>
              <a:rPr sz="1200" b="0" i="0" dirty="0" err="1">
                <a:solidFill>
                  <a:srgbClr val="F0F4F8"/>
                </a:solidFill>
              </a:rPr>
              <a:t>classe</a:t>
            </a:r>
            <a:r>
              <a:rPr sz="1200" b="0" i="0" dirty="0">
                <a:solidFill>
                  <a:srgbClr val="F0F4F8"/>
                </a:solidFill>
              </a:rPr>
              <a:t> </a:t>
            </a:r>
            <a:r>
              <a:rPr sz="1200" b="0" i="0" dirty="0" err="1">
                <a:solidFill>
                  <a:srgbClr val="F0F4F8"/>
                </a:solidFill>
              </a:rPr>
              <a:t>minoritaire</a:t>
            </a:r>
            <a:r>
              <a:rPr sz="1200" b="0" i="0" dirty="0">
                <a:solidFill>
                  <a:srgbClr val="F0F4F8"/>
                </a:solidFill>
              </a:rPr>
              <a:t> (Churn=1)
sur le train set </a:t>
            </a:r>
            <a:r>
              <a:rPr sz="1200" b="0" i="0" dirty="0" err="1">
                <a:solidFill>
                  <a:srgbClr val="F0F4F8"/>
                </a:solidFill>
              </a:rPr>
              <a:t>uniquement</a:t>
            </a:r>
            <a:r>
              <a:rPr sz="1200" b="0" i="0" dirty="0">
                <a:solidFill>
                  <a:srgbClr val="F0F4F8"/>
                </a:solidFill>
              </a:rPr>
              <a:t> · Le test set </a:t>
            </a:r>
            <a:r>
              <a:rPr sz="1200" b="0" i="0" dirty="0" err="1">
                <a:solidFill>
                  <a:srgbClr val="F0F4F8"/>
                </a:solidFill>
              </a:rPr>
              <a:t>reste</a:t>
            </a:r>
            <a:r>
              <a:rPr sz="1200" b="0" i="0" dirty="0">
                <a:solidFill>
                  <a:srgbClr val="F0F4F8"/>
                </a:solidFill>
              </a:rPr>
              <a:t> intact pour </a:t>
            </a:r>
            <a:r>
              <a:rPr sz="1200" b="0" i="0" dirty="0" err="1">
                <a:solidFill>
                  <a:srgbClr val="F0F4F8"/>
                </a:solidFill>
              </a:rPr>
              <a:t>une</a:t>
            </a:r>
            <a:r>
              <a:rPr sz="1200" b="0" i="0" dirty="0">
                <a:solidFill>
                  <a:srgbClr val="F0F4F8"/>
                </a:solidFill>
              </a:rPr>
              <a:t> </a:t>
            </a:r>
            <a:r>
              <a:rPr sz="1200" b="0" i="0" dirty="0" err="1">
                <a:solidFill>
                  <a:srgbClr val="F0F4F8"/>
                </a:solidFill>
              </a:rPr>
              <a:t>évaluation</a:t>
            </a:r>
            <a:r>
              <a:rPr sz="1200" b="0" i="0" dirty="0">
                <a:solidFill>
                  <a:srgbClr val="F0F4F8"/>
                </a:solidFill>
              </a:rPr>
              <a:t> </a:t>
            </a:r>
            <a:r>
              <a:rPr sz="1200" b="0" i="0" dirty="0" err="1">
                <a:solidFill>
                  <a:srgbClr val="F0F4F8"/>
                </a:solidFill>
              </a:rPr>
              <a:t>réaliste</a:t>
            </a:r>
            <a:r>
              <a:rPr sz="1200" b="0" i="0" dirty="0">
                <a:solidFill>
                  <a:srgbClr val="F0F4F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Modélisation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566160" cy="42976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64008" cy="4297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XGBClassifier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B8D4"/>
                </a:solidFill>
              </a:rPr>
              <a:t>Classification supervisée du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• Gradient Boosting sur arbres de décision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Gère nativement les valeurs manquantes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Régularisation L1/L2 intégrée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Optimisé sur 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097280"/>
            <a:ext cx="3566160" cy="42976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097280"/>
            <a:ext cx="64008" cy="42976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170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KMeans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B8D4"/>
                </a:solidFill>
              </a:rPr>
              <a:t>Segmentation non supervisée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• Regroupement en k=4 segments homogènes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Profils : Champions · À risque · Nouveaux · Dormants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Aide à personnaliser les stratégies marketing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Visualisation en 2D via PCA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097280"/>
            <a:ext cx="3566160" cy="42976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097280"/>
            <a:ext cx="64008" cy="42976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1704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8CAE4"/>
                </a:solidFill>
              </a:rPr>
              <a:t>GridSearchCV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B8D4"/>
                </a:solidFill>
              </a:rPr>
              <a:t>Optimisation des hyperparamètres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1168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• Validation croisée k-fold (k=5)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Recherche exhaustive sur la grille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Scoring : roc_auc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• Sélection du meilleur estimateur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5961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EB8D4"/>
                </a:solidFill>
              </a:rPr>
              <a:t>Pipeline sklearn : Scaler → PCA → XGBClassifier  (encapsulé dans un objet Pipeline serialisé en .pkl)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Hyperparamètres Optimaux (GridSearchCV)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EB8D4"/>
                </a:solidFill>
              </a:rPr>
              <a:t>Après recherche exhaustive par validation croisée (5-fold, scoring = roc_auc) 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2560320" cy="384048"/>
          </a:xfrm>
          <a:prstGeom prst="rect">
            <a:avLst/>
          </a:prstGeom>
          <a:solidFill>
            <a:srgbClr val="007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17520" y="1600200"/>
            <a:ext cx="1828800" cy="384048"/>
          </a:xfrm>
          <a:prstGeom prst="rect">
            <a:avLst/>
          </a:prstGeom>
          <a:solidFill>
            <a:srgbClr val="007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37760" y="1600200"/>
            <a:ext cx="6858000" cy="384048"/>
          </a:xfrm>
          <a:prstGeom prst="rect">
            <a:avLst/>
          </a:prstGeom>
          <a:solidFill>
            <a:srgbClr val="007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Paramètre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6459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Valeur optimale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4592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11430000" cy="539496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n_estimators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103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031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Nombre d'arbres de décision entraînés séquentiellement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11430000" cy="539496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670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max_depth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6700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7004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Profondeur maximale de chaque arbre — contrôle la complexité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45536"/>
            <a:ext cx="11430000" cy="539496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23697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learning_rate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2369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23697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Taux d'apprentissage (shrinkage) — évite le surapprentissage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12464"/>
            <a:ext cx="11430000" cy="539496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8039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min_child_weight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8039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80390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Poids minimal des feuilles — régularisation supplémentaire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79392"/>
            <a:ext cx="11430000" cy="539496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370831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subsample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3708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0.8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370831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Fraction des observations utilisées par arbre (bagging)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46320"/>
            <a:ext cx="11430000" cy="539496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colsample_bytree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9377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0.8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9377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Fraction des features sélectionnées par arbre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678424"/>
            <a:ext cx="11247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8EB8D4"/>
                </a:solidFill>
              </a:rPr>
              <a:t>Meilleur ROC-AUC (cross-</a:t>
            </a:r>
            <a:r>
              <a:rPr sz="1200" b="0" i="1" dirty="0" err="1">
                <a:solidFill>
                  <a:srgbClr val="8EB8D4"/>
                </a:solidFill>
              </a:rPr>
              <a:t>val</a:t>
            </a:r>
            <a:r>
              <a:rPr sz="1200" b="0" i="1" dirty="0">
                <a:solidFill>
                  <a:srgbClr val="8EB8D4"/>
                </a:solidFill>
              </a:rPr>
              <a:t>) ≈ 0.97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Évaluation des Performances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057400" cy="18288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20574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94.2%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B8D4"/>
                </a:solidFill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097280"/>
            <a:ext cx="2057400" cy="18288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06040" y="2926080"/>
            <a:ext cx="2057400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40" y="14173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8CAE4"/>
                </a:solidFill>
              </a:rPr>
              <a:t>93.8%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B8D4"/>
                </a:solidFill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097280"/>
            <a:ext cx="2057400" cy="18288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92040" y="2926080"/>
            <a:ext cx="205740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4173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300"/>
                </a:solidFill>
              </a:rPr>
              <a:t>91.5%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B8D4"/>
                </a:solidFill>
              </a:rPr>
              <a:t>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097280"/>
            <a:ext cx="2057400" cy="18288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78040" y="2926080"/>
            <a:ext cx="20574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14173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92.6%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B8D4"/>
                </a:solidFill>
              </a:rPr>
              <a:t>F1-Score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1097280"/>
            <a:ext cx="2057400" cy="18288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64040" y="2926080"/>
            <a:ext cx="2057400" cy="64008"/>
          </a:xfrm>
          <a:prstGeom prst="rect">
            <a:avLst/>
          </a:prstGeom>
          <a:solidFill>
            <a:srgbClr val="A29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14173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29BFA"/>
                </a:solidFill>
              </a:rPr>
              <a:t>0.974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B8D4"/>
                </a:solidFill>
              </a:rPr>
              <a:t>ROC-AUC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Rapport de classification par classe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611880"/>
            <a:ext cx="2286000" cy="384048"/>
          </a:xfrm>
          <a:prstGeom prst="rect">
            <a:avLst/>
          </a:prstGeom>
          <a:solidFill>
            <a:srgbClr val="007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59" y="36576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Classe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3611880"/>
            <a:ext cx="1828800" cy="384048"/>
          </a:xfrm>
          <a:prstGeom prst="rect">
            <a:avLst/>
          </a:prstGeom>
          <a:solidFill>
            <a:srgbClr val="007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0" y="3657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3611880"/>
            <a:ext cx="1828800" cy="384048"/>
          </a:xfrm>
          <a:prstGeom prst="rect">
            <a:avLst/>
          </a:prstGeom>
          <a:solidFill>
            <a:srgbClr val="007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3657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59" y="3611880"/>
            <a:ext cx="1828800" cy="384048"/>
          </a:xfrm>
          <a:prstGeom prst="rect">
            <a:avLst/>
          </a:prstGeom>
          <a:solidFill>
            <a:srgbClr val="007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79" y="3657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199" y="3611880"/>
            <a:ext cx="1828800" cy="384048"/>
          </a:xfrm>
          <a:prstGeom prst="rect">
            <a:avLst/>
          </a:prstGeom>
          <a:solidFill>
            <a:srgbClr val="007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19" y="3657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023360"/>
            <a:ext cx="22860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59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0 — Fidèles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4023360"/>
            <a:ext cx="18288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0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95.1%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4023360"/>
            <a:ext cx="18288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0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96.3%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59" y="4023360"/>
            <a:ext cx="18288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79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95.7%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58199" y="4023360"/>
            <a:ext cx="18288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03919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1 642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590288"/>
            <a:ext cx="2286000" cy="5303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59" y="46817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1 — Churnés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4590288"/>
            <a:ext cx="1828800" cy="5303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4320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91.3%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4590288"/>
            <a:ext cx="1828800" cy="5303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6344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88.7%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59" y="4590288"/>
            <a:ext cx="1828800" cy="5303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79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90.0%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199" y="4590288"/>
            <a:ext cx="1828800" cy="530352"/>
          </a:xfrm>
          <a:prstGeom prst="rect">
            <a:avLst/>
          </a:prstGeom>
          <a:solidFill>
            <a:srgbClr val="1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03919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358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157216"/>
            <a:ext cx="22860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59" y="52486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Macro avg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97480" y="5157216"/>
            <a:ext cx="18288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43200" y="52486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93.2%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17720" y="5157216"/>
            <a:ext cx="18288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63440" y="52486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92.5%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59" y="5157216"/>
            <a:ext cx="18288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83679" y="52486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92.8%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58199" y="5157216"/>
            <a:ext cx="1828800" cy="53035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03919" y="524865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2 000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EB8D4"/>
                </a:solidFill>
              </a:rPr>
              <a:t>Évaluation sur test set (20% des données, jamais vu pendant l'entraînement).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Matrice de Confusion &amp; Importance des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0" y="10972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Top 8 Features (XGBoost importance)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627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Tenure Ratio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1664208"/>
            <a:ext cx="384048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0" y="162763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0.187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MonetaryPerDay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194560"/>
            <a:ext cx="316274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26588" y="21579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0.154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688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AvgBasketValue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2724912"/>
            <a:ext cx="2710927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74767" y="268833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0.132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218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Recency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3255264"/>
            <a:ext cx="2423404" cy="2926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87244" y="321868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0.118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7490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Frequency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3785615"/>
            <a:ext cx="1868896" cy="2926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32736" y="3749039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0.091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Satisfaction 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4315968"/>
            <a:ext cx="1601911" cy="292608"/>
          </a:xfrm>
          <a:prstGeom prst="rect">
            <a:avLst/>
          </a:prstGeom>
          <a:solidFill>
            <a:srgbClr val="8E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65751" y="427939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B8D4"/>
                </a:solidFill>
              </a:rPr>
              <a:t>0.078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480974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Complain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4846319"/>
            <a:ext cx="1334926" cy="292608"/>
          </a:xfrm>
          <a:prstGeom prst="rect">
            <a:avLst/>
          </a:prstGeom>
          <a:solidFill>
            <a:srgbClr val="8E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98766" y="4809743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B8D4"/>
                </a:solidFill>
              </a:rPr>
              <a:t>0.065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34009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DaySinceLastOrder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5376671"/>
            <a:ext cx="1191164" cy="292608"/>
          </a:xfrm>
          <a:prstGeom prst="rect">
            <a:avLst/>
          </a:prstGeom>
          <a:solidFill>
            <a:srgbClr val="8E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55004" y="5340095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B8D4"/>
                </a:solidFill>
              </a:rPr>
              <a:t>0.058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6C392CE4-49D5-4043-8067-0122EF38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62" y="1188898"/>
            <a:ext cx="4444475" cy="41696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Déploiement avec Flask  [app.py]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EB8D4"/>
                </a:solidFill>
              </a:rPr>
              <a:t>L'application Flask constitue la couche de service exposant le modèle aux utilisateurs finaux.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486400" cy="17830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64008" cy="1783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Chargement des artefacts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Au démarrage, Flask charge :
xgb_model.pkl · kmeans.pkl
scaler.pkl · pca.pkl · encoder.pkl
→ Prêts en mémoire pour les requêtes.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486400" cy="17830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64008" cy="17830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7190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Route  /predict
(Formulaire Web)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402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Formulaire HTML → collecte des données client
Prétraitement identique au pipeline train
Réponse : Churn/Fidèle + Segment KMeans.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5486400" cy="17830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64008" cy="1783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6850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Route  /api/predict
(REST 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Entrée JSON · Sortie JSON
Intégration dans des systèmes externes
(CRM, dashboard, alertes automatiques).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5486400" cy="178308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11880"/>
            <a:ext cx="64008" cy="17830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6850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Gestion des erreurs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062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Validation des champs manquants
Messages d'erreur explicites
HTTP status codes standards (200, 400, 500).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96128"/>
            <a:ext cx="11247120" cy="457200"/>
          </a:xfrm>
          <a:prstGeom prst="rect">
            <a:avLst/>
          </a:prstGeom>
          <a:solidFill>
            <a:srgbClr val="08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63270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Utilisateur  →  Formulaire HTML  →  Flask  →  Pipeline (Scaler + PCA + XGB)  →  Résultat + Segment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91440" cy="68580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143000"/>
            <a:ext cx="41148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B4D8"/>
                </a:solidFill>
              </a:rPr>
              <a:t> </a:t>
            </a:r>
            <a:r>
              <a:rPr sz="2800" b="1" i="0" dirty="0" err="1">
                <a:solidFill>
                  <a:srgbClr val="00B4D8"/>
                </a:solidFill>
              </a:rPr>
              <a:t>Réalisations</a:t>
            </a:r>
            <a:endParaRPr sz="2800" b="1" i="0" dirty="0">
              <a:solidFill>
                <a:srgbClr val="00B4D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5985" y="1955810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F0F4F8"/>
                </a:solidFill>
              </a:rPr>
              <a:t>• Pipeline ML </a:t>
            </a:r>
            <a:r>
              <a:rPr sz="2000" b="0" dirty="0" err="1">
                <a:solidFill>
                  <a:srgbClr val="F0F4F8"/>
                </a:solidFill>
              </a:rPr>
              <a:t>complet</a:t>
            </a:r>
            <a:r>
              <a:rPr sz="2000" b="0" dirty="0">
                <a:solidFill>
                  <a:srgbClr val="F0F4F8"/>
                </a:solidFill>
              </a:rPr>
              <a:t> de bout </a:t>
            </a:r>
            <a:r>
              <a:rPr sz="2000" b="0" dirty="0" err="1">
                <a:solidFill>
                  <a:srgbClr val="F0F4F8"/>
                </a:solidFill>
              </a:rPr>
              <a:t>en</a:t>
            </a:r>
            <a:r>
              <a:rPr sz="2000" b="0" dirty="0">
                <a:solidFill>
                  <a:srgbClr val="F0F4F8"/>
                </a:solidFill>
              </a:rPr>
              <a:t> bout (EDA → </a:t>
            </a:r>
            <a:r>
              <a:rPr sz="2000" b="0" dirty="0" err="1">
                <a:solidFill>
                  <a:srgbClr val="F0F4F8"/>
                </a:solidFill>
              </a:rPr>
              <a:t>Prétraitement</a:t>
            </a:r>
            <a:r>
              <a:rPr sz="2000" b="0" dirty="0">
                <a:solidFill>
                  <a:srgbClr val="F0F4F8"/>
                </a:solidFill>
              </a:rPr>
              <a:t> → </a:t>
            </a:r>
            <a:r>
              <a:rPr sz="2000" b="0" dirty="0" err="1">
                <a:solidFill>
                  <a:srgbClr val="F0F4F8"/>
                </a:solidFill>
              </a:rPr>
              <a:t>Modélisation</a:t>
            </a:r>
            <a:r>
              <a:rPr sz="2000" b="0" dirty="0">
                <a:solidFill>
                  <a:srgbClr val="F0F4F8"/>
                </a:solidFill>
              </a:rPr>
              <a:t> → </a:t>
            </a:r>
            <a:r>
              <a:rPr sz="2000" b="0" dirty="0" err="1">
                <a:solidFill>
                  <a:srgbClr val="F0F4F8"/>
                </a:solidFill>
              </a:rPr>
              <a:t>Déploiement</a:t>
            </a:r>
            <a:r>
              <a:rPr sz="2000" b="0" dirty="0">
                <a:solidFill>
                  <a:srgbClr val="F0F4F8"/>
                </a:solidFill>
              </a:rPr>
              <a:t>)</a:t>
            </a:r>
          </a:p>
          <a:p>
            <a:pPr algn="l"/>
            <a:r>
              <a:rPr sz="2000" b="0" dirty="0">
                <a:solidFill>
                  <a:srgbClr val="F0F4F8"/>
                </a:solidFill>
              </a:rPr>
              <a:t>• </a:t>
            </a:r>
            <a:r>
              <a:rPr sz="2000" b="0" dirty="0" err="1">
                <a:solidFill>
                  <a:srgbClr val="F0F4F8"/>
                </a:solidFill>
              </a:rPr>
              <a:t>XGBoost</a:t>
            </a:r>
            <a:r>
              <a:rPr sz="2000" b="0" dirty="0">
                <a:solidFill>
                  <a:srgbClr val="F0F4F8"/>
                </a:solidFill>
              </a:rPr>
              <a:t> avec accuracy 94.2% et ROC-AUC 0.97 sur </a:t>
            </a:r>
            <a:r>
              <a:rPr sz="2000" b="0" dirty="0" err="1">
                <a:solidFill>
                  <a:srgbClr val="F0F4F8"/>
                </a:solidFill>
              </a:rPr>
              <a:t>données</a:t>
            </a:r>
            <a:r>
              <a:rPr sz="2000" b="0" dirty="0">
                <a:solidFill>
                  <a:srgbClr val="F0F4F8"/>
                </a:solidFill>
              </a:rPr>
              <a:t> </a:t>
            </a:r>
            <a:r>
              <a:rPr sz="2000" b="0" dirty="0" err="1">
                <a:solidFill>
                  <a:srgbClr val="F0F4F8"/>
                </a:solidFill>
              </a:rPr>
              <a:t>déséquilibrées</a:t>
            </a:r>
            <a:endParaRPr sz="2000" b="0" dirty="0">
              <a:solidFill>
                <a:srgbClr val="F0F4F8"/>
              </a:solidFill>
            </a:endParaRPr>
          </a:p>
          <a:p>
            <a:pPr algn="l"/>
            <a:r>
              <a:rPr sz="2000" b="0" dirty="0">
                <a:solidFill>
                  <a:srgbClr val="F0F4F8"/>
                </a:solidFill>
              </a:rPr>
              <a:t>• Segmentation </a:t>
            </a:r>
            <a:r>
              <a:rPr sz="2000" b="0" dirty="0" err="1">
                <a:solidFill>
                  <a:srgbClr val="F0F4F8"/>
                </a:solidFill>
              </a:rPr>
              <a:t>KMeans</a:t>
            </a:r>
            <a:r>
              <a:rPr sz="2000" b="0" dirty="0">
                <a:solidFill>
                  <a:srgbClr val="F0F4F8"/>
                </a:solidFill>
              </a:rPr>
              <a:t> </a:t>
            </a:r>
            <a:r>
              <a:rPr sz="2000" b="0" dirty="0" err="1">
                <a:solidFill>
                  <a:srgbClr val="F0F4F8"/>
                </a:solidFill>
              </a:rPr>
              <a:t>en</a:t>
            </a:r>
            <a:r>
              <a:rPr sz="2000" b="0" dirty="0">
                <a:solidFill>
                  <a:srgbClr val="F0F4F8"/>
                </a:solidFill>
              </a:rPr>
              <a:t> 4 </a:t>
            </a:r>
            <a:r>
              <a:rPr sz="2000" b="0" dirty="0" err="1">
                <a:solidFill>
                  <a:srgbClr val="F0F4F8"/>
                </a:solidFill>
              </a:rPr>
              <a:t>profils</a:t>
            </a:r>
            <a:r>
              <a:rPr sz="2000" b="0" dirty="0">
                <a:solidFill>
                  <a:srgbClr val="F0F4F8"/>
                </a:solidFill>
              </a:rPr>
              <a:t> clients </a:t>
            </a:r>
            <a:r>
              <a:rPr sz="2000" b="0" dirty="0" err="1">
                <a:solidFill>
                  <a:srgbClr val="F0F4F8"/>
                </a:solidFill>
              </a:rPr>
              <a:t>actionnables</a:t>
            </a:r>
            <a:endParaRPr sz="2000" b="0" dirty="0">
              <a:solidFill>
                <a:srgbClr val="F0F4F8"/>
              </a:solidFill>
            </a:endParaRPr>
          </a:p>
          <a:p>
            <a:pPr algn="l"/>
            <a:r>
              <a:rPr sz="2000" b="0" dirty="0">
                <a:solidFill>
                  <a:srgbClr val="F0F4F8"/>
                </a:solidFill>
              </a:rPr>
              <a:t>• API Flask </a:t>
            </a:r>
            <a:r>
              <a:rPr sz="2000" b="0" dirty="0" err="1">
                <a:solidFill>
                  <a:srgbClr val="F0F4F8"/>
                </a:solidFill>
              </a:rPr>
              <a:t>prête</a:t>
            </a:r>
            <a:r>
              <a:rPr sz="2000" b="0" dirty="0">
                <a:solidFill>
                  <a:srgbClr val="F0F4F8"/>
                </a:solidFill>
              </a:rPr>
              <a:t> à </a:t>
            </a:r>
            <a:r>
              <a:rPr sz="2000" b="0" dirty="0" err="1">
                <a:solidFill>
                  <a:srgbClr val="F0F4F8"/>
                </a:solidFill>
              </a:rPr>
              <a:t>l'intégration</a:t>
            </a:r>
            <a:r>
              <a:rPr sz="2000" b="0" dirty="0">
                <a:solidFill>
                  <a:srgbClr val="F0F4F8"/>
                </a:solidFill>
              </a:rPr>
              <a:t> dans un </a:t>
            </a:r>
            <a:r>
              <a:rPr sz="2000" b="0" dirty="0" err="1">
                <a:solidFill>
                  <a:srgbClr val="F0F4F8"/>
                </a:solidFill>
              </a:rPr>
              <a:t>environnement</a:t>
            </a:r>
            <a:r>
              <a:rPr sz="2000" b="0" dirty="0">
                <a:solidFill>
                  <a:srgbClr val="F0F4F8"/>
                </a:solidFill>
              </a:rPr>
              <a:t> de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691" y="3614559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48CAE4"/>
                </a:solidFill>
              </a:rPr>
              <a:t>  Perspectives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12" y="4248039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F0F4F8"/>
                </a:solidFill>
              </a:rPr>
              <a:t>• </a:t>
            </a:r>
            <a:r>
              <a:rPr sz="2000" b="0" dirty="0" err="1">
                <a:solidFill>
                  <a:srgbClr val="F0F4F8"/>
                </a:solidFill>
              </a:rPr>
              <a:t>Déploiement</a:t>
            </a:r>
            <a:r>
              <a:rPr sz="2000" b="0" dirty="0">
                <a:solidFill>
                  <a:srgbClr val="F0F4F8"/>
                </a:solidFill>
              </a:rPr>
              <a:t> cloud (Docker + CI/CD) </a:t>
            </a:r>
            <a:endParaRPr lang="fr-FR" sz="2000" b="0" dirty="0">
              <a:solidFill>
                <a:srgbClr val="F0F4F8"/>
              </a:solidFill>
            </a:endParaRPr>
          </a:p>
          <a:p>
            <a:pPr algn="l"/>
            <a:r>
              <a:rPr sz="2000" b="0" dirty="0">
                <a:solidFill>
                  <a:srgbClr val="F0F4F8"/>
                </a:solidFill>
              </a:rPr>
              <a:t>• Deep Learning (LSTM) pour capturer les </a:t>
            </a:r>
            <a:r>
              <a:rPr sz="2000" b="0" dirty="0" err="1">
                <a:solidFill>
                  <a:srgbClr val="F0F4F8"/>
                </a:solidFill>
              </a:rPr>
              <a:t>séquences</a:t>
            </a:r>
            <a:r>
              <a:rPr sz="2000" b="0" dirty="0">
                <a:solidFill>
                  <a:srgbClr val="F0F4F8"/>
                </a:solidFill>
              </a:rPr>
              <a:t> </a:t>
            </a:r>
            <a:r>
              <a:rPr sz="2000" b="0" dirty="0" err="1">
                <a:solidFill>
                  <a:srgbClr val="F0F4F8"/>
                </a:solidFill>
              </a:rPr>
              <a:t>temporelles</a:t>
            </a:r>
            <a:r>
              <a:rPr sz="2000" b="0" dirty="0">
                <a:solidFill>
                  <a:srgbClr val="F0F4F8"/>
                </a:solidFill>
              </a:rPr>
              <a:t> </a:t>
            </a:r>
            <a:r>
              <a:rPr sz="2000" b="0" dirty="0" err="1">
                <a:solidFill>
                  <a:srgbClr val="F0F4F8"/>
                </a:solidFill>
              </a:rPr>
              <a:t>d'achats</a:t>
            </a:r>
            <a:endParaRPr sz="2000" b="0" dirty="0">
              <a:solidFill>
                <a:srgbClr val="F0F4F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5174373"/>
            <a:ext cx="41148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1370</Words>
  <Application>Microsoft Office PowerPoint</Application>
  <PresentationFormat>Personnalisé</PresentationFormat>
  <Paragraphs>240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LENOVO</cp:lastModifiedBy>
  <cp:revision>7</cp:revision>
  <dcterms:created xsi:type="dcterms:W3CDTF">2013-01-27T09:14:16Z</dcterms:created>
  <dcterms:modified xsi:type="dcterms:W3CDTF">2026-04-29T17:47:55Z</dcterms:modified>
  <cp:category/>
</cp:coreProperties>
</file>